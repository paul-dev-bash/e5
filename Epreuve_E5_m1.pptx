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60" r:id="rId5"/>
    <p:sldId id="263" r:id="rId6"/>
    <p:sldId id="262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B13F8B94-ACF0-43C9-8394-EE268977BFFE}">
          <p14:sldIdLst>
            <p14:sldId id="256"/>
            <p14:sldId id="258"/>
            <p14:sldId id="266"/>
            <p14:sldId id="260"/>
            <p14:sldId id="263"/>
            <p14:sldId id="262"/>
            <p14:sldId id="264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2613" autoAdjust="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BF162-21DB-4D7B-98F8-F91E33427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A98226F-E0C1-4ECB-B275-0AADB302D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0A2F48-DEBD-4C2F-91AC-3D78C6B9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0247D2-0B4A-4C77-BB19-373A499C0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60230F-532E-4941-A24E-7D6BEC3D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909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84939E-BECA-4F3A-BBD4-0542E8FF0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A31160-061D-42BA-82E5-8F360175A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051A01-D5E9-4065-9216-C70B055B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4336E9-2C37-433E-B507-6B9B7003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F3D3AA-2FBE-4757-9F6B-87FAA343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4289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601B7A-83F3-4B7E-8CC9-DFB8A5B56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BEF935-5CB0-481B-8AE5-663E0FFC2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6892FF-E0A3-4F23-88C5-308C0D74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9891F1-1039-4B04-98DE-6C36B32F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ED47B-F56B-4C6C-9A27-5C16A921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17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CBD3C1-58CD-422D-B4BC-FE062E399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B2790C-76B8-474C-984A-57D5B3C81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DF17B00-474A-46E4-B670-F6079C76C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BDFCA5-4CDB-438E-B62D-CDF619B5F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645722-BDBD-4BE7-855C-1CD016A6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6446F1-41B8-4575-A321-D160DF9FE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839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C9ED5-B85D-4B47-8B0D-CA99017FC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7650FE-3D38-4B5C-92A6-2F3CDF15B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2FB161-5906-4EFF-AF43-A9FAC15B0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3A4D737-FE1B-42E8-96C3-908E4BE445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4F95807-1C05-4B8F-9FFB-64FBF74BD5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B580901-5B9C-4D4B-8DA4-742E3B747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7AA0093-AF88-48CB-B8C0-461A266DA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E6B20BE-75FB-4A5D-9131-A03113BC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4872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E377AD-6362-4C2B-B50B-498B3E250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EFC5A1E-6873-4BF4-9E68-A99A88C4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3D650D2-CAC4-46E7-8616-85AA19F1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1FB3E6-AA33-481F-967A-E92AE447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880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E46FB28-9A1A-4189-873E-1421C537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7F1A9E6-14BE-4CA6-AEA8-6C10F26E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E280E4-1617-4581-82A2-FD6E7738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845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DBE609-D546-4F3D-9F6F-8AF79245E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5FED05-C6C3-4E3D-9A49-359343BC1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3DCD7C-9D54-43A7-BADE-F7BDEFEE1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5CE1B7-43FD-48FF-983D-025CC965E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0B15FB-14A0-47DD-9BB0-374BD2923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3B8D02-5FC4-4C6B-822D-59B0F7D66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3531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C23C27-9940-4CC9-B67A-7E1BBA5D5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04EDFA9-677C-41A6-96C6-B822981D78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2D81B7-0329-49A7-8B7C-22DFF9C88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40722F-15D6-40E3-B96F-6AC2C258C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2A003B-1AE0-4476-AF20-8CD76029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8C7ADB-25D3-4954-8384-105BCD6C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4974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6BDF49-F911-4288-B553-ECF3CD89A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FBCC06-B0E4-4EDF-B142-D5C2EDBCC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ED06F4-4717-4CD9-9A03-3C8259D8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FA11F4-1109-4969-BFF3-304D70CF0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AE90A6-7D4F-4ECC-81DB-4CF2898E8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75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8535B39-987F-4726-9E11-9F2CC0FD8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C95EC7-6B52-4504-98E4-8C6903A07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6FCB93-15E8-48B7-8D58-4EA2F0698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1A6E46-CE86-4413-9980-40072DD2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976189-A306-4DAA-892D-F21E2D1E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764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940C37B-42BB-4DA7-B8F1-53A4C4DF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A849C9-020C-4A3B-9481-572AC539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46DCD7-6ADA-4587-9F46-564078BFA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8A688-D2B8-4A2A-92DF-9446F57D1286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F471D7-BF12-4173-9C3B-F860DD83A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389AAD-A00D-4159-9CAD-E1A9ECF61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B339A-264F-4927-A7AB-756763B397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69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B7291C9-02E8-47E9-A2C2-F15AFA30A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Mise </a:t>
            </a:r>
            <a:r>
              <a:rPr lang="en-US" sz="4000" dirty="0" err="1">
                <a:solidFill>
                  <a:srgbClr val="FFFFFF"/>
                </a:solidFill>
              </a:rPr>
              <a:t>en</a:t>
            </a:r>
            <a:r>
              <a:rPr lang="en-US" sz="4000" dirty="0">
                <a:solidFill>
                  <a:srgbClr val="FFFFFF"/>
                </a:solidFill>
              </a:rPr>
              <a:t> place d’un VPN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D98D33D-F9A0-4270-8430-0A9D35DDC0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5506746" y="1195454"/>
            <a:ext cx="3358914" cy="352586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DC51A78-F5D9-4CA0-956E-4D7DE6C0F849}"/>
              </a:ext>
            </a:extLst>
          </p:cNvPr>
          <p:cNvSpPr txBox="1"/>
          <p:nvPr/>
        </p:nvSpPr>
        <p:spPr>
          <a:xfrm>
            <a:off x="1175924" y="165110"/>
            <a:ext cx="60812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/>
                </a:solidFill>
                <a:ea typeface="+mj-ea"/>
                <a:cs typeface="+mj-cs"/>
              </a:rPr>
              <a:t>L</a:t>
            </a:r>
            <a:r>
              <a:rPr lang="en-US" sz="6000" kern="1200" dirty="0">
                <a:solidFill>
                  <a:schemeClr val="accent1"/>
                </a:solidFill>
                <a:ea typeface="+mj-ea"/>
                <a:cs typeface="+mj-cs"/>
              </a:rPr>
              <a:t>a Société Poisson</a:t>
            </a:r>
            <a:endParaRPr lang="fr-FR" sz="6000" dirty="0">
              <a:solidFill>
                <a:schemeClr val="accent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D96B561-578C-48A7-AF8D-E6A2D14942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2468" y="2066294"/>
            <a:ext cx="3780832" cy="378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B7291C9-02E8-47E9-A2C2-F15AFA30A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061" y="1968201"/>
            <a:ext cx="11191875" cy="4382752"/>
          </a:xfrm>
        </p:spPr>
        <p:txBody>
          <a:bodyPr anchor="t">
            <a:normAutofit/>
          </a:bodyPr>
          <a:lstStyle/>
          <a:p>
            <a:pPr algn="l"/>
            <a:r>
              <a:rPr lang="fr-FR" sz="2000" dirty="0"/>
              <a:t>Secteur d’activité : </a:t>
            </a:r>
            <a:br>
              <a:rPr lang="fr-FR" sz="2000" dirty="0"/>
            </a:br>
            <a:r>
              <a:rPr lang="fr-FR" sz="2000" dirty="0"/>
              <a:t>	agroalimentaire , surgelé produits de la mer</a:t>
            </a:r>
            <a:br>
              <a:rPr lang="fr-FR" sz="2000" dirty="0"/>
            </a:b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Nombre d’employés : 500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Situé au port du Rhin à Strasbourg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Usine de production de 1000 m²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La société Poisson a été fondé en 2015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A3132120-E4CB-49C8-B8EF-259EA8A171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2231779" y="328107"/>
            <a:ext cx="1368877" cy="143690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4790887-04CD-496A-AF1A-B762B595B84D}"/>
              </a:ext>
            </a:extLst>
          </p:cNvPr>
          <p:cNvSpPr txBox="1"/>
          <p:nvPr/>
        </p:nvSpPr>
        <p:spPr>
          <a:xfrm>
            <a:off x="4041822" y="507047"/>
            <a:ext cx="3256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+mj-ea"/>
                <a:cs typeface="+mj-cs"/>
              </a:rPr>
              <a:t>Présentation du site de Strasbourg</a:t>
            </a:r>
            <a:endParaRPr lang="fr-FR" sz="2800" dirty="0">
              <a:solidFill>
                <a:schemeClr val="accent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66BA7E8-A460-4CFA-9BE7-61A6B0A50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137" y="1600200"/>
            <a:ext cx="4876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0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B7291C9-02E8-47E9-A2C2-F15AFA30A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062" y="1968201"/>
            <a:ext cx="4759836" cy="4382752"/>
          </a:xfrm>
        </p:spPr>
        <p:txBody>
          <a:bodyPr anchor="t">
            <a:normAutofit/>
          </a:bodyPr>
          <a:lstStyle/>
          <a:p>
            <a:pPr algn="l"/>
            <a:r>
              <a:rPr lang="fr-FR" sz="2000" dirty="0"/>
              <a:t>Nouveau site de production 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Situé dans la zone d’industriel de Brumath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Bâtiment de 1000m² 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Acheter en 2021</a:t>
            </a:r>
            <a:br>
              <a:rPr lang="fr-FR" sz="2000" dirty="0"/>
            </a:br>
            <a:endParaRPr lang="fr-FR" sz="2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A3132120-E4CB-49C8-B8EF-259EA8A171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2231779" y="328107"/>
            <a:ext cx="1368877" cy="143690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4790887-04CD-496A-AF1A-B762B595B84D}"/>
              </a:ext>
            </a:extLst>
          </p:cNvPr>
          <p:cNvSpPr txBox="1"/>
          <p:nvPr/>
        </p:nvSpPr>
        <p:spPr>
          <a:xfrm>
            <a:off x="4016655" y="507047"/>
            <a:ext cx="33572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+mj-ea"/>
                <a:cs typeface="+mj-cs"/>
              </a:rPr>
              <a:t>Présentation du site de Brumath</a:t>
            </a:r>
            <a:endParaRPr lang="fr-FR" sz="2800" dirty="0">
              <a:solidFill>
                <a:schemeClr val="accent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BD9E337-AC43-4912-AD54-24CDBC748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960" y="1461154"/>
            <a:ext cx="6135629" cy="460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4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E56CB837-1DEB-41D0-BBF0-05D6D2D533A7}"/>
              </a:ext>
            </a:extLst>
          </p:cNvPr>
          <p:cNvSpPr txBox="1"/>
          <p:nvPr/>
        </p:nvSpPr>
        <p:spPr>
          <a:xfrm>
            <a:off x="377254" y="1859644"/>
            <a:ext cx="9358146" cy="246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2000" dirty="0"/>
              <a:t>Création d’un réseau et sécurisation de la connexion entre les 2 sites :</a:t>
            </a:r>
          </a:p>
          <a:p>
            <a:pPr marL="1200150" lvl="2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Création et mise en place d’un réseau pour le site de Brumath </a:t>
            </a:r>
          </a:p>
          <a:p>
            <a:pPr marL="1200150" lvl="2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Mise en place d’un </a:t>
            </a:r>
            <a:r>
              <a:rPr lang="fr-FR" sz="2000" b="1" dirty="0"/>
              <a:t>VPN</a:t>
            </a:r>
            <a:r>
              <a:rPr lang="fr-FR" sz="2000" dirty="0"/>
              <a:t> site à site entre Strasbourg et Brumath </a:t>
            </a:r>
          </a:p>
          <a:p>
            <a:pPr marL="1200150" lvl="2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B7ACBDA-A80F-4F5D-AB8B-82E4A78E27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2231779" y="328107"/>
            <a:ext cx="1368877" cy="143690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4C064CE-89FA-40B4-B5D4-3ACE0C6A5C1A}"/>
              </a:ext>
            </a:extLst>
          </p:cNvPr>
          <p:cNvSpPr txBox="1"/>
          <p:nvPr/>
        </p:nvSpPr>
        <p:spPr>
          <a:xfrm>
            <a:off x="4016654" y="507047"/>
            <a:ext cx="2988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+mj-ea"/>
                <a:cs typeface="+mj-cs"/>
              </a:rPr>
              <a:t>Cahier des charges</a:t>
            </a:r>
            <a:endParaRPr lang="fr-FR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57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4532F363-283E-44B6-B3D1-6ACDE8A33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1773855" y="242746"/>
            <a:ext cx="1368877" cy="143690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A465EE2-9F7E-4C46-B0A8-93EA86024F5E}"/>
              </a:ext>
            </a:extLst>
          </p:cNvPr>
          <p:cNvSpPr txBox="1"/>
          <p:nvPr/>
        </p:nvSpPr>
        <p:spPr>
          <a:xfrm>
            <a:off x="3409144" y="494357"/>
            <a:ext cx="4367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+mj-ea"/>
                <a:cs typeface="+mj-cs"/>
              </a:rPr>
              <a:t>Réseau du site de Strasbourg</a:t>
            </a:r>
            <a:endParaRPr lang="fr-FR" sz="2800" dirty="0">
              <a:solidFill>
                <a:schemeClr val="accent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4A2A9E7-ACA0-44DC-B561-D21B322E11A9}"/>
              </a:ext>
            </a:extLst>
          </p:cNvPr>
          <p:cNvSpPr txBox="1"/>
          <p:nvPr/>
        </p:nvSpPr>
        <p:spPr>
          <a:xfrm>
            <a:off x="286616" y="1892214"/>
            <a:ext cx="3642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Schéma du réseau </a:t>
            </a:r>
          </a:p>
          <a:p>
            <a:r>
              <a:rPr lang="fr-FR" dirty="0"/>
              <a:t>site Strasbourg</a:t>
            </a:r>
          </a:p>
        </p:txBody>
      </p:sp>
      <p:pic>
        <p:nvPicPr>
          <p:cNvPr id="16" name="Image 15" descr="Une image contenant texte, équipement électronique, écran, ordinateur&#10;&#10;Description générée automatiquement">
            <a:extLst>
              <a:ext uri="{FF2B5EF4-FFF2-40B4-BE49-F238E27FC236}">
                <a16:creationId xmlns:a16="http://schemas.microsoft.com/office/drawing/2014/main" id="{D3181EF8-CBDE-487E-94E0-536ACFD940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093"/>
          <a:stretch/>
        </p:blipFill>
        <p:spPr>
          <a:xfrm>
            <a:off x="1529998" y="1610168"/>
            <a:ext cx="7875426" cy="475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085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4532F363-283E-44B6-B3D1-6ACDE8A33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1773855" y="242746"/>
            <a:ext cx="1368877" cy="143690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A465EE2-9F7E-4C46-B0A8-93EA86024F5E}"/>
              </a:ext>
            </a:extLst>
          </p:cNvPr>
          <p:cNvSpPr txBox="1"/>
          <p:nvPr/>
        </p:nvSpPr>
        <p:spPr>
          <a:xfrm>
            <a:off x="3409144" y="494357"/>
            <a:ext cx="4174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+mj-ea"/>
                <a:cs typeface="+mj-cs"/>
              </a:rPr>
              <a:t>Réseau du site de Brumath</a:t>
            </a:r>
            <a:endParaRPr lang="fr-FR" sz="2800" dirty="0">
              <a:solidFill>
                <a:schemeClr val="accent1"/>
              </a:solidFill>
            </a:endParaRPr>
          </a:p>
        </p:txBody>
      </p:sp>
      <p:pic>
        <p:nvPicPr>
          <p:cNvPr id="3" name="Image 2" descr="Une image contenant texte, équipement électronique, écran, ordinateur&#10;&#10;Description générée automatiquement">
            <a:extLst>
              <a:ext uri="{FF2B5EF4-FFF2-40B4-BE49-F238E27FC236}">
                <a16:creationId xmlns:a16="http://schemas.microsoft.com/office/drawing/2014/main" id="{0DA73542-281D-40EA-9D37-EF5269E29A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5" r="1" b="25300"/>
          <a:stretch/>
        </p:blipFill>
        <p:spPr>
          <a:xfrm>
            <a:off x="2342103" y="2095284"/>
            <a:ext cx="8527260" cy="4415441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D22400AA-2636-44B0-B3B7-F386B379A134}"/>
              </a:ext>
            </a:extLst>
          </p:cNvPr>
          <p:cNvSpPr txBox="1"/>
          <p:nvPr/>
        </p:nvSpPr>
        <p:spPr>
          <a:xfrm>
            <a:off x="286616" y="1837129"/>
            <a:ext cx="3642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Schéma du future réseau </a:t>
            </a:r>
          </a:p>
          <a:p>
            <a:r>
              <a:rPr lang="fr-FR" dirty="0"/>
              <a:t>site Brumath</a:t>
            </a:r>
          </a:p>
        </p:txBody>
      </p:sp>
    </p:spTree>
    <p:extLst>
      <p:ext uri="{BB962C8B-B14F-4D97-AF65-F5344CB8AC3E}">
        <p14:creationId xmlns:p14="http://schemas.microsoft.com/office/powerpoint/2010/main" val="2233314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04A2A9E7-ACA0-44DC-B561-D21B322E11A9}"/>
              </a:ext>
            </a:extLst>
          </p:cNvPr>
          <p:cNvSpPr txBox="1"/>
          <p:nvPr/>
        </p:nvSpPr>
        <p:spPr>
          <a:xfrm>
            <a:off x="686407" y="1850367"/>
            <a:ext cx="91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VPN site à site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532F363-283E-44B6-B3D1-6ACDE8A33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1773855" y="242746"/>
            <a:ext cx="1368877" cy="143690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A465EE2-9F7E-4C46-B0A8-93EA86024F5E}"/>
              </a:ext>
            </a:extLst>
          </p:cNvPr>
          <p:cNvSpPr txBox="1"/>
          <p:nvPr/>
        </p:nvSpPr>
        <p:spPr>
          <a:xfrm>
            <a:off x="3409144" y="494357"/>
            <a:ext cx="5835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1"/>
                </a:solidFill>
                <a:ea typeface="+mj-ea"/>
                <a:cs typeface="+mj-cs"/>
              </a:rPr>
              <a:t>Connexion</a:t>
            </a:r>
            <a:r>
              <a:rPr lang="en-US" sz="2800" dirty="0">
                <a:solidFill>
                  <a:schemeClr val="accent1"/>
                </a:solidFill>
                <a:ea typeface="+mj-ea"/>
                <a:cs typeface="+mj-cs"/>
              </a:rPr>
              <a:t> VPN entre les deux sites</a:t>
            </a:r>
            <a:endParaRPr lang="fr-FR" sz="2800" dirty="0">
              <a:solidFill>
                <a:schemeClr val="accent1"/>
              </a:solidFill>
            </a:endParaRPr>
          </a:p>
        </p:txBody>
      </p:sp>
      <p:pic>
        <p:nvPicPr>
          <p:cNvPr id="5" name="Image 4" descr="Une image contenant texte, moniteur, écran, intérieur&#10;&#10;Description générée automatiquement">
            <a:extLst>
              <a:ext uri="{FF2B5EF4-FFF2-40B4-BE49-F238E27FC236}">
                <a16:creationId xmlns:a16="http://schemas.microsoft.com/office/drawing/2014/main" id="{8F91C29B-1279-49F7-B6E7-0DE6E996D5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773"/>
          <a:stretch/>
        </p:blipFill>
        <p:spPr>
          <a:xfrm>
            <a:off x="197652" y="2404890"/>
            <a:ext cx="11629639" cy="230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70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04A2A9E7-ACA0-44DC-B561-D21B322E11A9}"/>
              </a:ext>
            </a:extLst>
          </p:cNvPr>
          <p:cNvSpPr txBox="1"/>
          <p:nvPr/>
        </p:nvSpPr>
        <p:spPr>
          <a:xfrm>
            <a:off x="686407" y="1850367"/>
            <a:ext cx="91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VPN site à site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532F363-283E-44B6-B3D1-6ACDE8A33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1773855" y="242746"/>
            <a:ext cx="1368877" cy="143690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A465EE2-9F7E-4C46-B0A8-93EA86024F5E}"/>
              </a:ext>
            </a:extLst>
          </p:cNvPr>
          <p:cNvSpPr txBox="1"/>
          <p:nvPr/>
        </p:nvSpPr>
        <p:spPr>
          <a:xfrm>
            <a:off x="3409144" y="494357"/>
            <a:ext cx="4448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>
                <a:solidFill>
                  <a:schemeClr val="accent1"/>
                </a:solidFill>
                <a:ea typeface="+mj-ea"/>
                <a:cs typeface="+mj-cs"/>
              </a:rPr>
              <a:t>Fonctionnement du VPN</a:t>
            </a:r>
            <a:endParaRPr lang="fr-FR" sz="2800">
              <a:solidFill>
                <a:schemeClr val="accent1"/>
              </a:solidFill>
            </a:endParaRPr>
          </a:p>
        </p:txBody>
      </p:sp>
      <p:pic>
        <p:nvPicPr>
          <p:cNvPr id="5" name="Image 4" descr="Une image contenant texte, moniteur, écran, intérieur&#10;&#10;Description générée automatiquement">
            <a:extLst>
              <a:ext uri="{FF2B5EF4-FFF2-40B4-BE49-F238E27FC236}">
                <a16:creationId xmlns:a16="http://schemas.microsoft.com/office/drawing/2014/main" id="{3DC181A4-440E-460B-B0D4-713B90C24F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4" t="52037" r="15917"/>
          <a:stretch/>
        </p:blipFill>
        <p:spPr>
          <a:xfrm>
            <a:off x="1117311" y="2240911"/>
            <a:ext cx="9600817" cy="360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80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04A2A9E7-ACA0-44DC-B561-D21B322E11A9}"/>
              </a:ext>
            </a:extLst>
          </p:cNvPr>
          <p:cNvSpPr txBox="1"/>
          <p:nvPr/>
        </p:nvSpPr>
        <p:spPr>
          <a:xfrm>
            <a:off x="694796" y="1871579"/>
            <a:ext cx="91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Calendrier de mise en place et date de démarrage du site de production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532F363-283E-44B6-B3D1-6ACDE8A33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02" t="15876" r="14939" b="13627"/>
          <a:stretch/>
        </p:blipFill>
        <p:spPr>
          <a:xfrm>
            <a:off x="1773855" y="242746"/>
            <a:ext cx="1368877" cy="143690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A465EE2-9F7E-4C46-B0A8-93EA86024F5E}"/>
              </a:ext>
            </a:extLst>
          </p:cNvPr>
          <p:cNvSpPr txBox="1"/>
          <p:nvPr/>
        </p:nvSpPr>
        <p:spPr>
          <a:xfrm>
            <a:off x="3409144" y="494357"/>
            <a:ext cx="4448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1"/>
                </a:solidFill>
                <a:ea typeface="+mj-ea"/>
                <a:cs typeface="+mj-cs"/>
              </a:rPr>
              <a:t>Organisation</a:t>
            </a:r>
            <a:endParaRPr lang="fr-FR" sz="2800" dirty="0">
              <a:solidFill>
                <a:schemeClr val="accent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D588483-78F1-47E2-847E-927421E0F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2000"/>
            <a:ext cx="12192000" cy="201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551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</TotalTime>
  <Words>180</Words>
  <Application>Microsoft Office PowerPoint</Application>
  <PresentationFormat>Grand écran</PresentationFormat>
  <Paragraphs>22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Thème Office</vt:lpstr>
      <vt:lpstr>Mise en place d’un VPN</vt:lpstr>
      <vt:lpstr>Secteur d’activité :   agroalimentaire , surgelé produits de la mer   Nombre d’employés : 500  Situé au port du Rhin à Strasbourg  Usine de production de 1000 m²  La société Poisson a été fondé en 2015</vt:lpstr>
      <vt:lpstr>Nouveau site de production   Situé dans la zone d’industriel de Brumath  Bâtiment de 1000m²   Acheter en 2021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Amélioration du réseau escal</dc:title>
  <dc:creator>Paul WOLFF</dc:creator>
  <cp:lastModifiedBy>Paul WOLFF</cp:lastModifiedBy>
  <cp:revision>65</cp:revision>
  <dcterms:created xsi:type="dcterms:W3CDTF">2021-05-29T14:27:01Z</dcterms:created>
  <dcterms:modified xsi:type="dcterms:W3CDTF">2021-12-07T16:45:13Z</dcterms:modified>
</cp:coreProperties>
</file>